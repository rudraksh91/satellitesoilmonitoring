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dPt>
            <c:idx val="0"/>
            <c:spPr>
              <a:solidFill>
                <a:srgbClr val="F5AC00"/>
              </a:solidFill>
            </c:spPr>
          </c:dPt>
          <c:dPt>
            <c:idx val="1"/>
            <c:spPr>
              <a:solidFill>
                <a:srgbClr val="00C8C8"/>
              </a:solidFill>
            </c:spPr>
          </c:dPt>
          <c:dPt>
            <c:idx val="2"/>
            <c:spPr>
              <a:solidFill>
                <a:srgbClr val="2ECC71"/>
              </a:solidFill>
            </c:spPr>
          </c:dPt>
          <c:dPt>
            <c:idx val="3"/>
            <c:spPr>
              <a:solidFill>
                <a:srgbClr val="E05030"/>
              </a:solidFill>
            </c:spPr>
          </c:dPt>
          <c:cat>
            <c:strRef>
              <c:f>Sheet1!$A$2:$A$5</c:f>
              <c:strCache>
                <c:ptCount val="4"/>
                <c:pt idx="0">
                  <c:v>Women Entrepreneurs (45%)</c:v>
                </c:pt>
                <c:pt idx="1">
                  <c:v>Smallholder Farmers (35%)</c:v>
                </c:pt>
                <c:pt idx="2">
                  <c:v>Rural Youth &amp; Artisans (12%)</c:v>
                </c:pt>
                <c:pt idx="3">
                  <c:v>Technical Students (8%)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934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5445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95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469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1133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3371" y="2276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3371" y="3419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3371" y="4562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3371" y="5705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3371" y="0"/>
            <a:ext cx="4875580" cy="2286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49363" y="0"/>
            <a:ext cx="64008" cy="6858000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658368"/>
            <a:ext cx="3566160" cy="402336"/>
          </a:xfrm>
          <a:prstGeom prst="rect">
            <a:avLst/>
          </a:prstGeom>
          <a:solidFill>
            <a:srgbClr val="0A2A4A"/>
          </a:solidFill>
          <a:ln w="1905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766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AC00"/>
                </a:solidFill>
                <a:latin typeface="Calibri"/>
              </a:rPr>
              <a:t>EXTENSION DEPARTMENT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188720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Connecting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993392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5AC00"/>
                </a:solidFill>
                <a:latin typeface="Georgia"/>
              </a:rPr>
              <a:t>Lab to Land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99232"/>
            <a:ext cx="5303520" cy="5486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0CCD8"/>
                </a:solidFill>
                <a:latin typeface="Calibri"/>
              </a:rPr>
              <a:t>My 1-Month Training in the Technology Transfer &amp; Extension Division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5020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C8"/>
                </a:solidFill>
                <a:latin typeface="Calibri"/>
              </a:rPr>
              <a:t>Sardar Patel Renewable Energy Research Institute (SPRERI)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6227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CD8"/>
                </a:solidFill>
                <a:latin typeface="Calibri"/>
              </a:rPr>
              <a:t>Anand, Gujarat  •  Estd. 1979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150" y="128016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Solar 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7150" y="256032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Clean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7150" y="384048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Rural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150" y="512064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Innovation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934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5445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95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469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1133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3371" y="2276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3371" y="3419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3371" y="4562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3371" y="5705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3371" y="0"/>
            <a:ext cx="4875580" cy="2286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49363" y="0"/>
            <a:ext cx="64008" cy="6858000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ABOUT SPRERI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04672"/>
            <a:ext cx="6858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Who We 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64208"/>
            <a:ext cx="4389120" cy="640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65376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0CCD8"/>
                </a:solidFill>
                <a:latin typeface="Calibri"/>
              </a:rPr>
              <a:t>A leading autonomous research institution established in 1979 in Vallabh Vidyanagar, Gujarat, dedicated to efficient, clean, and sustainable energy development.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1572768" cy="1371600"/>
          </a:xfrm>
          <a:prstGeom prst="rect">
            <a:avLst/>
          </a:prstGeom>
          <a:solidFill>
            <a:srgbClr val="0A2A4A"/>
          </a:solidFill>
          <a:ln w="1905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1572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C00"/>
                </a:solidFill>
                <a:latin typeface="Georgia"/>
              </a:rPr>
              <a:t>1979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1363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CD8"/>
                </a:solidFill>
                <a:latin typeface="Calibri"/>
              </a:rPr>
              <a:t>Year Founded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154680"/>
            <a:ext cx="1572768" cy="1371600"/>
          </a:xfrm>
          <a:prstGeom prst="rect">
            <a:avLst/>
          </a:prstGeom>
          <a:solidFill>
            <a:srgbClr val="0A2A4A"/>
          </a:solidFill>
          <a:ln w="1905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3246120"/>
            <a:ext cx="1572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C8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91363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CD8"/>
                </a:solidFill>
                <a:latin typeface="Calibri"/>
              </a:rPr>
              <a:t>Research Divisions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154680"/>
            <a:ext cx="1572768" cy="1371600"/>
          </a:xfrm>
          <a:prstGeom prst="rect">
            <a:avLst/>
          </a:prstGeom>
          <a:solidFill>
            <a:srgbClr val="0A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246120"/>
            <a:ext cx="1572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CC71"/>
                </a:solidFill>
                <a:latin typeface="Georgia"/>
              </a:rPr>
              <a:t>45+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91363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CD8"/>
                </a:solidFill>
                <a:latin typeface="Calibri"/>
              </a:rPr>
              <a:t>Years of Impact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3154680"/>
            <a:ext cx="1572768" cy="1371600"/>
          </a:xfrm>
          <a:prstGeom prst="rect">
            <a:avLst/>
          </a:prstGeom>
          <a:solidFill>
            <a:srgbClr val="0A2A4A"/>
          </a:solidFill>
          <a:ln w="19050">
            <a:solidFill>
              <a:srgbClr val="E0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3246120"/>
            <a:ext cx="1572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05030"/>
                </a:solidFill>
                <a:latin typeface="Georgia"/>
              </a:rPr>
              <a:t>250+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91363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CD8"/>
                </a:solidFill>
                <a:latin typeface="Calibri"/>
              </a:rPr>
              <a:t>Beneficiaries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150" y="137160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Est. 1979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150" y="265176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Clean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7150" y="393192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Gujarat, India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SPRERI'S RESEARCH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Three Pillars of Clean Energy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44168"/>
            <a:ext cx="11338560" cy="5486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3611880" cy="4462272"/>
          </a:xfrm>
          <a:prstGeom prst="rect">
            <a:avLst/>
          </a:prstGeom>
          <a:solidFill>
            <a:srgbClr val="0A2A4A"/>
          </a:solidFill>
          <a:ln w="2540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36192"/>
            <a:ext cx="3611880" cy="42062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78508" y="2103120"/>
            <a:ext cx="877824" cy="877824"/>
          </a:xfrm>
          <a:prstGeom prst="ellipse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8508" y="2130552"/>
            <a:ext cx="8778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SUN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C00"/>
                </a:solidFill>
                <a:latin typeface="Calibri"/>
              </a:rPr>
              <a:t>Solar 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749039"/>
            <a:ext cx="2697480" cy="36576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58768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CD8"/>
                </a:solidFill>
                <a:latin typeface="Calibri"/>
              </a:rPr>
              <a:t>Advanced design &amp; development of solar thermal dryers, standalone PV solutions, concentrated solar systems, and energy storage technologies.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36192"/>
            <a:ext cx="3611880" cy="4462272"/>
          </a:xfrm>
          <a:prstGeom prst="rect">
            <a:avLst/>
          </a:prstGeom>
          <a:solidFill>
            <a:srgbClr val="0A2A4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36192"/>
            <a:ext cx="3611880" cy="42062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4708" y="2103120"/>
            <a:ext cx="877824" cy="87782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4708" y="2130552"/>
            <a:ext cx="8778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089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Calibri"/>
              </a:rPr>
              <a:t>Bio &amp; Thermo-Chemical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26974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858768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CD8"/>
                </a:solidFill>
                <a:latin typeface="Calibri"/>
              </a:rPr>
              <a:t>Waste-to-energy technologies, high-efficiency biogas digesters, torrefaction, and gasification methods for rural communities.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536192"/>
            <a:ext cx="3611880" cy="4462272"/>
          </a:xfrm>
          <a:prstGeom prst="rect">
            <a:avLst/>
          </a:prstGeom>
          <a:solidFill>
            <a:srgbClr val="0A2A4A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536192"/>
            <a:ext cx="3611880" cy="420624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0907" y="2103120"/>
            <a:ext cx="877824" cy="877824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0907" y="2130552"/>
            <a:ext cx="8778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31089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C8"/>
                </a:solidFill>
                <a:latin typeface="Calibri"/>
              </a:rPr>
              <a:t>Extension &amp; Transfer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749039"/>
            <a:ext cx="2697480" cy="36576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858768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CD8"/>
                </a:solidFill>
                <a:latin typeface="Calibri"/>
              </a:rPr>
              <a:t>Bridges laboratories with communities through demonstrations, targeted local training, rural entrepreneurship, and technical support.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44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38094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6171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5332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895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32570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5618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3624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7340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1056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772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01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C00"/>
                </a:solidFill>
                <a:latin typeface="Calibri"/>
              </a:rPr>
              <a:t>OUR 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601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Georgia"/>
              </a:rPr>
              <a:t>Bridging Science &amp;
Rural Society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944368"/>
            <a:ext cx="5577840" cy="640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90672"/>
            <a:ext cx="9966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0CCD8"/>
                </a:solidFill>
                <a:latin typeface="Calibri"/>
              </a:rPr>
              <a:t>The central mission of SPRERI's Extension Division is to commercially disseminate cutting-edge renewable technologies, build capacity, foster rural entrepreneurship, and drive green socio-economic change across Gujarat.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029200"/>
            <a:ext cx="2240280" cy="129844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Disseminate
Technology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5029200"/>
            <a:ext cx="2240280" cy="1298448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512064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Build
Capacity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5029200"/>
            <a:ext cx="2240280" cy="12984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512064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Foster
Entrepreneurship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41663" y="5029200"/>
            <a:ext cx="2240280" cy="1298448"/>
          </a:xfrm>
          <a:prstGeom prst="rect">
            <a:avLst/>
          </a:prstGeom>
          <a:solidFill>
            <a:srgbClr val="E0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3" y="512064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Drive Change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1-MONTH TRAINING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Week-by-Week Learning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44168"/>
            <a:ext cx="11338560" cy="5486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61488"/>
            <a:ext cx="11155680" cy="914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08760"/>
            <a:ext cx="2724912" cy="4480560"/>
          </a:xfrm>
          <a:prstGeom prst="rect">
            <a:avLst/>
          </a:prstGeom>
          <a:solidFill>
            <a:srgbClr val="0A2A4A"/>
          </a:solidFill>
          <a:ln w="2540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508760"/>
            <a:ext cx="2724912" cy="42062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2704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422"/>
                </a:solidFill>
                <a:latin typeface="Calibri"/>
              </a:rPr>
              <a:t>WEEK 1</a:t>
            </a:r>
          </a:p>
        </p:txBody>
      </p:sp>
      <p:sp>
        <p:nvSpPr>
          <p:cNvPr id="12" name="Oval 11"/>
          <p:cNvSpPr/>
          <p:nvPr/>
        </p:nvSpPr>
        <p:spPr>
          <a:xfrm>
            <a:off x="1554480" y="2651760"/>
            <a:ext cx="310896" cy="310896"/>
          </a:xfrm>
          <a:prstGeom prst="ellipse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09067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C00"/>
                </a:solidFill>
                <a:latin typeface="Calibri"/>
              </a:rPr>
              <a:t>Familiarization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639312"/>
            <a:ext cx="2176272" cy="36576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25054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0CCD8"/>
                </a:solidFill>
                <a:latin typeface="Calibri"/>
              </a:rPr>
              <a:t>Oriented with division goals. Studied scientific designs of solar dryers, gasifiers, and biogas technology in research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508760"/>
            <a:ext cx="2724912" cy="4480560"/>
          </a:xfrm>
          <a:prstGeom prst="rect">
            <a:avLst/>
          </a:prstGeom>
          <a:solidFill>
            <a:srgbClr val="0A2A4A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1508760"/>
            <a:ext cx="2724912" cy="420624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152704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422"/>
                </a:solidFill>
                <a:latin typeface="Calibri"/>
              </a:rPr>
              <a:t>WEEK 2</a:t>
            </a:r>
          </a:p>
        </p:txBody>
      </p:sp>
      <p:sp>
        <p:nvSpPr>
          <p:cNvPr id="19" name="Oval 18"/>
          <p:cNvSpPr/>
          <p:nvPr/>
        </p:nvSpPr>
        <p:spPr>
          <a:xfrm>
            <a:off x="4425696" y="2651760"/>
            <a:ext cx="310896" cy="310896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309067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C8"/>
                </a:solidFill>
                <a:latin typeface="Calibri"/>
              </a:rPr>
              <a:t>Field Experience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639312"/>
            <a:ext cx="2176272" cy="36576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3749039"/>
            <a:ext cx="25054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0CCD8"/>
                </a:solidFill>
                <a:latin typeface="Calibri"/>
              </a:rPr>
              <a:t>Participated in rural surveys around Anand, mapping energy use and exploring community perspectives on biogas &amp; solar.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9904" y="1508760"/>
            <a:ext cx="2724912" cy="4480560"/>
          </a:xfrm>
          <a:prstGeom prst="rect">
            <a:avLst/>
          </a:prstGeom>
          <a:solidFill>
            <a:srgbClr val="0A2A4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9904" y="1508760"/>
            <a:ext cx="2724912" cy="42062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152704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422"/>
                </a:solidFill>
                <a:latin typeface="Calibri"/>
              </a:rPr>
              <a:t>WEEK 3</a:t>
            </a:r>
          </a:p>
        </p:txBody>
      </p:sp>
      <p:sp>
        <p:nvSpPr>
          <p:cNvPr id="26" name="Oval 25"/>
          <p:cNvSpPr/>
          <p:nvPr/>
        </p:nvSpPr>
        <p:spPr>
          <a:xfrm>
            <a:off x="7296912" y="2651760"/>
            <a:ext cx="310896" cy="31089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09067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  <a:latin typeface="Calibri"/>
              </a:rPr>
              <a:t>Capacity Building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3639312"/>
            <a:ext cx="2176272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3749039"/>
            <a:ext cx="25054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0CCD8"/>
                </a:solidFill>
                <a:latin typeface="Calibri"/>
              </a:rPr>
              <a:t>Supported community training campaigns. Witnessed hands-on technical instruction for farmers and women entrepreneur groups.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508760"/>
            <a:ext cx="2724912" cy="4480560"/>
          </a:xfrm>
          <a:prstGeom prst="rect">
            <a:avLst/>
          </a:prstGeom>
          <a:solidFill>
            <a:srgbClr val="0A2A4A"/>
          </a:solidFill>
          <a:ln w="25400">
            <a:solidFill>
              <a:srgbClr val="E0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1508760"/>
            <a:ext cx="2724912" cy="420624"/>
          </a:xfrm>
          <a:prstGeom prst="rect">
            <a:avLst/>
          </a:prstGeom>
          <a:solidFill>
            <a:srgbClr val="E0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152704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422"/>
                </a:solidFill>
                <a:latin typeface="Calibri"/>
              </a:rPr>
              <a:t>WEEK 4</a:t>
            </a:r>
          </a:p>
        </p:txBody>
      </p:sp>
      <p:sp>
        <p:nvSpPr>
          <p:cNvPr id="33" name="Oval 32"/>
          <p:cNvSpPr/>
          <p:nvPr/>
        </p:nvSpPr>
        <p:spPr>
          <a:xfrm>
            <a:off x="10168128" y="2651760"/>
            <a:ext cx="310896" cy="310896"/>
          </a:xfrm>
          <a:prstGeom prst="ellipse">
            <a:avLst/>
          </a:prstGeom>
          <a:solidFill>
            <a:srgbClr val="E0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09067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05030"/>
                </a:solidFill>
                <a:latin typeface="Calibri"/>
              </a:rPr>
              <a:t>Documentation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639312"/>
            <a:ext cx="2176272" cy="36576"/>
          </a:xfrm>
          <a:prstGeom prst="rect">
            <a:avLst/>
          </a:prstGeom>
          <a:solidFill>
            <a:srgbClr val="E0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0848" y="3749039"/>
            <a:ext cx="25054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0CCD8"/>
                </a:solidFill>
                <a:latin typeface="Calibri"/>
              </a:rPr>
              <a:t>Analysed field survey responses, formulated technology feedback logs, and assisted with training documentation &amp; reporting.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934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5445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95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469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1133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3371" y="2276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3371" y="3419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3371" y="4562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3371" y="5705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3371" y="0"/>
            <a:ext cx="4875580" cy="2286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49363" y="0"/>
            <a:ext cx="64008" cy="6858000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FIELD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0467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Solar Drying Outreach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91640"/>
            <a:ext cx="4389120" cy="640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01952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C8"/>
                </a:solidFill>
                <a:latin typeface="Calibri"/>
              </a:rPr>
              <a:t>Boosting Agricultural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23744"/>
            <a:ext cx="65836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CD8"/>
                </a:solidFill>
                <a:latin typeface="Calibri"/>
              </a:rPr>
              <a:t>Solar dryers demonstrated in neighboring agricultural fields dramatically reduce post-harvest moisture, preventing crop spoilage, improving shelf-life, and optimizing farm revenues safely.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50208"/>
            <a:ext cx="2971800" cy="1417320"/>
          </a:xfrm>
          <a:prstGeom prst="rect">
            <a:avLst/>
          </a:prstGeom>
          <a:solidFill>
            <a:srgbClr val="0A2A4A"/>
          </a:solidFill>
          <a:ln w="2540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41648"/>
            <a:ext cx="1463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C00"/>
                </a:solidFill>
                <a:latin typeface="Georgia"/>
              </a:rPr>
              <a:t>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16052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CD8"/>
                </a:solidFill>
                <a:latin typeface="Calibri"/>
              </a:rPr>
              <a:t>Tonnes CO₂
offset/batch/year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3950208"/>
            <a:ext cx="2971800" cy="1417320"/>
          </a:xfrm>
          <a:prstGeom prst="rect">
            <a:avLst/>
          </a:prstGeom>
          <a:solidFill>
            <a:srgbClr val="0A2A4A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041648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C8"/>
                </a:solidFill>
                <a:latin typeface="Georgia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160520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CD8"/>
                </a:solidFill>
                <a:latin typeface="Calibri"/>
              </a:rPr>
              <a:t>Grid-Independent
Operation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150" y="137160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Solar Dryers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150" y="265176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CO₂ Offset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150" y="393192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Farm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CORE TECHNOLOGIES IN FIELD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Deployed Renewable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44168"/>
            <a:ext cx="11338560" cy="5486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3611880" cy="4572000"/>
          </a:xfrm>
          <a:prstGeom prst="rect">
            <a:avLst/>
          </a:prstGeom>
          <a:solidFill>
            <a:srgbClr val="0A2A4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36192"/>
            <a:ext cx="36118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78508" y="2148840"/>
            <a:ext cx="877824" cy="87782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8508" y="2176272"/>
            <a:ext cx="8778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Calibri"/>
              </a:rPr>
              <a:t>Biogas Digesters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58768"/>
            <a:ext cx="26974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05072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CD8"/>
                </a:solidFill>
                <a:latin typeface="Calibri"/>
              </a:rPr>
              <a:t>Upcycling bio-waste &amp; cattle manure into reliable organic methane gas and bio-compost for rural households.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36192"/>
            <a:ext cx="3611880" cy="4572000"/>
          </a:xfrm>
          <a:prstGeom prst="rect">
            <a:avLst/>
          </a:prstGeom>
          <a:solidFill>
            <a:srgbClr val="0A2A4A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36192"/>
            <a:ext cx="3611880" cy="45720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4708" y="2148840"/>
            <a:ext cx="877824" cy="877824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4708" y="2176272"/>
            <a:ext cx="8778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FBR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5468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C8"/>
                </a:solidFill>
                <a:latin typeface="Calibri"/>
              </a:rPr>
              <a:t>Banana Fiber
Extractors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858768"/>
            <a:ext cx="2697480" cy="36576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05072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CD8"/>
                </a:solidFill>
                <a:latin typeface="Calibri"/>
              </a:rPr>
              <a:t>Transforming agricultural by-products into premium fiber, empowering local rural women entrepreneurs.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536192"/>
            <a:ext cx="3611880" cy="4572000"/>
          </a:xfrm>
          <a:prstGeom prst="rect">
            <a:avLst/>
          </a:prstGeom>
          <a:solidFill>
            <a:srgbClr val="0A2A4A"/>
          </a:solidFill>
          <a:ln w="2540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536192"/>
            <a:ext cx="3611880" cy="457200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0907" y="2148840"/>
            <a:ext cx="877824" cy="877824"/>
          </a:xfrm>
          <a:prstGeom prst="ellipse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0907" y="2176272"/>
            <a:ext cx="8778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1422"/>
                </a:solidFill>
                <a:latin typeface="Calibri"/>
              </a:rPr>
              <a:t>SOL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315468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C00"/>
                </a:solidFill>
                <a:latin typeface="Calibri"/>
              </a:rPr>
              <a:t>Solar Cookers
&amp; Stills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858768"/>
            <a:ext cx="2697480" cy="36576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005072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CD8"/>
                </a:solidFill>
                <a:latin typeface="Calibri"/>
              </a:rPr>
              <a:t>Harnessing thermal concentration for safe food cooking and clean water purification in villages.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934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5445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95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469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1133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3371" y="2276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3371" y="3419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3371" y="4562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3371" y="5705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3371" y="0"/>
            <a:ext cx="4875580" cy="2286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49363" y="0"/>
            <a:ext cx="64008" cy="6858000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EMPIRICAL COMMUNITY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04672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Outreach in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72768"/>
            <a:ext cx="4389120" cy="640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10512"/>
            <a:ext cx="47548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5AC00"/>
                </a:solidFill>
                <a:latin typeface="Georgia"/>
              </a:rPr>
              <a:t>250+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C8"/>
                </a:solidFill>
                <a:latin typeface="Calibri"/>
              </a:rPr>
              <a:t>BENEFICIARIES ENGAGED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58768"/>
            <a:ext cx="6217920" cy="5486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416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Extension Outreach Highlights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08576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CD8"/>
                </a:solidFill>
                <a:latin typeface="Calibri"/>
              </a:rPr>
              <a:t>Throughout the 1-month training, I was closely involved in preparing, executing, and recording community outreach activities. I assisted senior trainers in organizing focused seminars and on-field technical explanations for local farmers and rural households around Anand, demonstrating renewable alternatives.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150" y="137160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250+ Reached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7150" y="265176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Seminars Held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7150" y="393192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Field Demos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TRAINING PARTICIPANT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Who We Reached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44168"/>
            <a:ext cx="11338560" cy="5486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08760"/>
          <a:ext cx="65836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223760" y="1828800"/>
            <a:ext cx="274320" cy="2926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105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Women Entrepreneurs  —  45%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542032"/>
            <a:ext cx="274320" cy="292608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52374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Smallholder Farmers  —  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255264"/>
            <a:ext cx="27432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23697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Rural Youth &amp; Artisans  —  12%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968496"/>
            <a:ext cx="274320" cy="292608"/>
          </a:xfrm>
          <a:prstGeom prst="rect">
            <a:avLst/>
          </a:prstGeom>
          <a:solidFill>
            <a:srgbClr val="E0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9502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Technical Students  —  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CCD8"/>
                </a:solidFill>
                <a:latin typeface="Calibri"/>
              </a:rPr>
              <a:t>Data reflects demographic distribution across multi-village technology demonstration workshops. Robust interest from women entrepreneurs noted.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C00"/>
                </a:solidFill>
                <a:latin typeface="Calibri"/>
              </a:rPr>
              <a:t>SURVEY FEEDBACK &amp; TECHNOLOGY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Field Assessment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44168"/>
            <a:ext cx="11338560" cy="54864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247120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43000"/>
                <a:gridCol w="3657600"/>
                <a:gridCol w="41605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81422"/>
                          </a:solidFill>
                          <a:latin typeface="Calibri"/>
                        </a:rPr>
                        <a:t>Technology Block</a:t>
                      </a:r>
                    </a:p>
                  </a:txBody>
                  <a:tcPr>
                    <a:solidFill>
                      <a:srgbClr val="F5A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81422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F5A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81422"/>
                          </a:solidFill>
                          <a:latin typeface="Calibri"/>
                        </a:rPr>
                        <a:t>Identified Adoption Barrier</a:t>
                      </a:r>
                    </a:p>
                  </a:txBody>
                  <a:tcPr>
                    <a:solidFill>
                      <a:srgbClr val="F5A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081422"/>
                          </a:solidFill>
                          <a:latin typeface="Calibri"/>
                        </a:rPr>
                        <a:t>Proposed Remedial Step</a:t>
                      </a:r>
                    </a:p>
                  </a:txBody>
                  <a:tcPr>
                    <a:solidFill>
                      <a:srgbClr val="F5AC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Biogas Systems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000">
                          <a:solidFill>
                            <a:srgbClr val="2ECC71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CCD8"/>
                          </a:solidFill>
                          <a:latin typeface="Calibri"/>
                        </a:rPr>
                        <a:t>High initial upfront installation cost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CCD8"/>
                          </a:solidFill>
                          <a:latin typeface="Calibri"/>
                        </a:rPr>
                        <a:t>State subsidy mapping &amp; community ownership models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Solar Cabin Dryers</a:t>
                      </a:r>
                    </a:p>
                  </a:txBody>
                  <a:tcPr>
                    <a:solidFill>
                      <a:srgbClr val="08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000">
                          <a:solidFill>
                            <a:srgbClr val="E05030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>
                    <a:solidFill>
                      <a:srgbClr val="08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CCD8"/>
                          </a:solidFill>
                          <a:latin typeface="Calibri"/>
                        </a:rPr>
                        <a:t>Dependency on seasonal sunlight</a:t>
                      </a:r>
                    </a:p>
                  </a:txBody>
                  <a:tcPr>
                    <a:solidFill>
                      <a:srgbClr val="08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CCD8"/>
                          </a:solidFill>
                          <a:latin typeface="Calibri"/>
                        </a:rPr>
                        <a:t>Integrating hybrid backup biomass heaters</a:t>
                      </a:r>
                    </a:p>
                  </a:txBody>
                  <a:tcPr>
                    <a:solidFill>
                      <a:srgbClr val="0820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Banana Fiber Machine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000">
                          <a:solidFill>
                            <a:srgbClr val="00C8C8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CCD8"/>
                          </a:solidFill>
                          <a:latin typeface="Calibri"/>
                        </a:rPr>
                        <a:t>Limited market connection for crafts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CCD8"/>
                          </a:solidFill>
                          <a:latin typeface="Calibri"/>
                        </a:rPr>
                        <a:t>Fostering direct e-commerce cooperatives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44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38094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6171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5332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895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32570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5618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3624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7340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1056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77256"/>
            <a:ext cx="12188952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01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C00"/>
                </a:solidFill>
                <a:latin typeface="Calibri"/>
              </a:rPr>
              <a:t>KEY PROFESSIONAL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005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5AC00"/>
                </a:solidFill>
                <a:latin typeface="Georgia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33832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5AC00"/>
                </a:solidFill>
                <a:latin typeface="Georgia"/>
              </a:rPr>
              <a:t>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173736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  <a:latin typeface="Georgia"/>
              </a:rPr>
              <a:t>Clean energy innovations remain purely laboratory artifacts
until we transfer them into the daily operations
of actual farming communities.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005072"/>
            <a:ext cx="3749039" cy="640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C8"/>
                </a:solidFill>
                <a:latin typeface="Calibri"/>
              </a:rPr>
              <a:t>— TRAINEE REFLECTION, EXTENSION DIVISION, SPRERI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Technology Transfer &amp; Extension Division  |  Anand, Gujarat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9343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54459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9575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4691" y="0"/>
            <a:ext cx="18288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1133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3371" y="2276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3371" y="3419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3371" y="4562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3371" y="5705856"/>
            <a:ext cx="4875580" cy="1828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3371" y="0"/>
            <a:ext cx="4875580" cy="2286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49363" y="0"/>
            <a:ext cx="64008" cy="6858000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280160"/>
            <a:ext cx="7132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Georgia"/>
              </a:rPr>
              <a:t>Questions &amp;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04288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5AC00"/>
                </a:solidFill>
                <a:latin typeface="Georgia"/>
              </a:rPr>
              <a:t>Open Discussion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6126480" cy="64008"/>
          </a:xfrm>
          <a:prstGeom prst="rect">
            <a:avLst/>
          </a:prstGeom>
          <a:solidFill>
            <a:srgbClr val="F5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82112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CCD8"/>
                </a:solidFill>
                <a:latin typeface="Calibri"/>
              </a:rPr>
              <a:t>I express my sincere gratitude to my mentors and the entire
SPRERI Extension team for this enriching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15968"/>
            <a:ext cx="6309360" cy="822960"/>
          </a:xfrm>
          <a:prstGeom prst="rect">
            <a:avLst/>
          </a:prstGeom>
          <a:solidFill>
            <a:srgbClr val="0A2A4A"/>
          </a:solidFill>
          <a:ln w="19050">
            <a:solidFill>
              <a:srgbClr val="F5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CCD8"/>
                </a:solidFill>
                <a:latin typeface="Calibri"/>
              </a:rPr>
              <a:t>Vallabh Vidyanagar, Anand, Gujarat  |  www.spreri.org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150" y="137160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Thank You!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150" y="265176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SPRERI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150" y="3931920"/>
            <a:ext cx="43880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60"/>
                </a:solidFill>
                <a:latin typeface="Calibri"/>
              </a:rPr>
              <a:t>Anand, GJ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2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CD8"/>
                </a:solidFill>
                <a:latin typeface="Calibri"/>
              </a:rPr>
              <a:t>SPRERI  |  Sardar Patel Renewable Energy Research Institute  |  www.spreri.org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